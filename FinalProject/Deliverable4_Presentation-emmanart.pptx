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~30 sec. Introduce yourself and the project. Mention Kaggle European Soccer data, Postgres schema soccer_proj, and that the video covers design, reflection, and a short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 Explain scope, then one sentence on business: organizations use match + player history for performance review, content strategy, and market comparison—not just hobby stats.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 sec. Personal tie-in, then say my 30 questions mirror reports a front office or analyst might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~1.5 min. Walk the diagram: Country → League → Match_tbl; Team for home/away; attribute history tables. Say final ERD matches initial; views sit on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 Be specific: mention one query that was hard (e.g. Q10 unbeaten streak) or one load issue.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 Tie learning to class topics: normalization, SQL, physical design (indexes for grad).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 sec. Honest self-assessment; mention you can read and adapt SQL you did not write before.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 sec. Tie next steps to business: cleaner data + dashboards = decisions faster for ops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 LIVE DEMO. Expand Country → League → Match_tbl in the tree. Run SELECT COUNT(*) on each (or show counts from write-up). Open Match_tbl LIMIT 5 to show league_id, country_id, home_team_goal, away_team_goal. Mention Player_Attributes is largest (183,978) but skip opening it unless you have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 LIVE DEMO. Run Q16.</a:t>
            </a:r>
          </a:p>
          <a:p/>
          <a:p>
            <a:r>
              <a:t>SELECT c.name AS country,</a:t>
            </a:r>
          </a:p>
          <a:p>
            <a:r>
              <a:t>  AVG((m.home_team_goal + m.away_team_goal)::numeric) AS avg_goals_per_match</a:t>
            </a:r>
          </a:p>
          <a:p>
            <a:r>
              <a:t>FROM soccer_proj."Match_tbl" m</a:t>
            </a:r>
          </a:p>
          <a:p>
            <a:r>
              <a:t>JOIN soccer_proj."League" l ON l.id = m.league_id</a:t>
            </a:r>
          </a:p>
          <a:p>
            <a:r>
              <a:t>JOIN soccer_proj."Country" c ON c.id = l.country_id</a:t>
            </a:r>
          </a:p>
          <a:p>
            <a:r>
              <a:t>GROUP BY c.name</a:t>
            </a:r>
          </a:p>
          <a:p>
            <a:r>
              <a:t>ORDER BY avg_goals_per_match DESC;</a:t>
            </a:r>
          </a:p>
          <a:p/>
          <a:p>
            <a:r>
              <a:t>Say: regional report—which country’s leagues produce the most goals per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~30 sec. Show this screenshot or live results. Highlight top countries (Netherlands, Switzerland, Germany).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 LIVE DEMO. Run Q18.</a:t>
            </a:r>
          </a:p>
          <a:p/>
          <a:p>
            <a:r>
              <a:t>SELECT t.team_long_name,</a:t>
            </a:r>
          </a:p>
          <a:p>
            <a:r>
              <a:t>  SUM(CASE WHEN m.home_team_api_id = t.team_api_id AND m.away_team_goal = 0 THEN 1 ELSE 0 END</a:t>
            </a:r>
          </a:p>
          <a:p>
            <a:r>
              <a:t>     + CASE WHEN m.away_team_api_id = t.team_api_id AND m.home_team_goal = 0 THEN 1 ELSE 0 END) AS clean_sheets</a:t>
            </a:r>
          </a:p>
          <a:p>
            <a:r>
              <a:t>FROM soccer_proj."Team" t</a:t>
            </a:r>
          </a:p>
          <a:p>
            <a:r>
              <a:t>JOIN soccer_proj."Match_tbl" m</a:t>
            </a:r>
          </a:p>
          <a:p>
            <a:r>
              <a:t>  ON m.home_team_api_id = t.team_api_id OR m.away_team_api_id = t.team_api_id</a:t>
            </a:r>
          </a:p>
          <a:p>
            <a:r>
              <a:t>GROUP BY t.team_long_name</a:t>
            </a:r>
          </a:p>
          <a:p>
            <a:r>
              <a:t>ORDER BY clean_sheets DESC</a:t>
            </a:r>
          </a:p>
          <a:p>
            <a:r>
              <a:t>LIMIT 30;</a:t>
            </a:r>
          </a:p>
          <a:p/>
          <a:p>
            <a:r>
              <a:t>Clean sheets = defensive KPI clubs track home and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~30 sec. Show screenshot or live results. Celtic, Barcelona, Manchester United at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 sec. Closing slide before Q&amp;A. Pick two examples. Star schema: dimensions + facts; views = canned reports for business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~15 sec. Close; remind grader where video URL lives in the doc.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9202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8046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European Soccer Database</a:t>
            </a:r>
          </a:p>
          <a:p>
            <a:pPr>
              <a:defRPr sz="2000">
                <a:solidFill>
                  <a:srgbClr val="FFFFFF"/>
                </a:solidFill>
                <a:latin typeface="Calibri"/>
              </a:defRPr>
            </a:pPr>
            <a:r>
              <a:t>Final Project · Deliverable 4 · soccer_proj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Emmanuel Arthur · Database Class ·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  <a:latin typeface="Calibri"/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Source: Kaggle European Soccer Database (SQLite export → CSV → PostgreSQL)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Scope: 11 countries, 11 leagues, ~26K matches (2008–2016), teams, players, attributes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Business context: same kind of data clubs, sports media, and analytics vendors use for reporting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Schema soccer_proj with 7 base tables + views for common joins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Total loaded rows across all tables: 222,796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  <a:latin typeface="Calibri"/>
              </a:defRPr>
            </a:pPr>
            <a:r>
              <a:t>Why I chose this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I have followed European club soccer since childhood (Man United, then Bayern Munich)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The domain is familiar: leagues, seasons, home/away, points, streaks, betting odds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Business-style questions: league scoring trends, defensive strength, player development, odds vs results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Good mix of dimensions (country, league, team, player) and facts (matches, ratings)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Graduate requirement: 30 English questions that map to real SELECT workloads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  <a:latin typeface="Calibri"/>
              </a:defRPr>
            </a:pPr>
            <a:r>
              <a:t>ER diagram — soccer_proj</a:t>
            </a:r>
          </a:p>
          <a:p>
            <a:pPr>
              <a:defRPr sz="1600">
                <a:solidFill>
                  <a:srgbClr val="555555"/>
                </a:solidFill>
                <a:latin typeface="Calibri"/>
              </a:defRPr>
            </a:pPr>
            <a:r>
              <a:t>Initial and final use the same 7 tables</a:t>
            </a:r>
          </a:p>
        </p:txBody>
      </p:sp>
      <p:pic>
        <p:nvPicPr>
          <p:cNvPr id="3" name="Picture 2" descr="soccer_proj_erd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60120"/>
            <a:ext cx="8686800" cy="53616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897880"/>
            <a:ext cx="8412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  <a:latin typeface="Calibri"/>
              </a:defRPr>
            </a:pPr>
            <a:r>
              <a:t>Data model for business reporting: Country/League/Team/Player = who &amp; where; Match_tbl = transactions (each game); attributes = snapshots over time. Views = ready-made reports.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  <a:latin typeface="Calibri"/>
              </a:defRPr>
            </a:pPr>
            <a:r>
              <a:t>Hardest part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Loading and typing: SQLite → CSV → Postgres with consistent column names and NULL handling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Match_tbl is very wide (lineup API IDs, many bookmaker columns) — easy to get joins wrong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Writing correct multi-step SQL (common table expressions, window functions) for streaks and lineup-based ratings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Deciding which foreign keys to enforce vs document-only when source data has orphan keys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Keeping 30 project questions aligned with what the data actually supports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  <a:latin typeface="Calibri"/>
              </a:defRPr>
            </a:pPr>
            <a:r>
              <a:t>What I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Design first: ERD and keys matter before writing dozens of queries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JOIN choice changes results (INNER vs LEFT) — always check row counts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Views encapsulate repeated 4–5 table joins; indexes help filter/join columns on Match_tbl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Window functions (partition rows per team/season, compare to prior rows) for streaks and trends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Documentation + reproducible load scripts save time at deliverable deadline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  <a:latin typeface="Calibri"/>
              </a:defRPr>
            </a:pPr>
            <a:r>
              <a:t>SQL confidence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Comfortable with the most common SQL: SELECT, JOINs, GROUP BY, HAVING, subqueries, CASE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Comfortable creating views (for example league_match_summary_view, match_context_view)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Overall: much more confident than at the start of the semester — I can debug by counting rows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DBeaver plus the EXPLAIN command helped me see when a query execution plan looked expensive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  <a:latin typeface="Calibri"/>
              </a:defRPr>
            </a:pPr>
            <a:r>
              <a:t>What I would do next (more time)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Enforce more foreign keys after data cleaning; add CHECK constraints on goals and dates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Materialized views or summary tables for league/season dashboards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More indexes tuned using EXPLAIN on the slowest of the 30 queries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Data quality report: missing lineups, duplicate player identifiers, odds outliers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Optional: BI dashboard (Tableau/Power BI) on views for non-technical stakeholders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  <a:latin typeface="Calibri"/>
              </a:defRPr>
            </a:pPr>
            <a:r>
              <a:t>DEMO: Tables + row counts</a:t>
            </a:r>
          </a:p>
          <a:p>
            <a:pPr>
              <a:defRPr sz="1600">
                <a:solidFill>
                  <a:srgbClr val="555555"/>
                </a:solidFill>
                <a:latin typeface="Calibri"/>
              </a:defRPr>
            </a:pPr>
            <a:r>
              <a:t>DBeaver · schema soccer_proj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Demo these core tables (foreign key relationships) in DBeaver — columns + row count: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Country — 11 rows (parent; League.country_id → Country.id)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League — 11 rows (country_id foreign key; Match_tbl.league_id → League.id)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Team — 299 rows (home/away team_api_id on Match_tbl)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Match_tbl — 25,979 rows (hub: country_id, league_id, home/away teams, goals)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All 7 tables combined — 222,796 rows total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  <a:latin typeface="Calibri"/>
              </a:defRPr>
            </a:pPr>
            <a:r>
              <a:t>DEMO: Intermediate query (Q16)</a:t>
            </a:r>
          </a:p>
          <a:p>
            <a:pPr>
              <a:defRPr sz="1600">
                <a:solidFill>
                  <a:srgbClr val="555555"/>
                </a:solidFill>
                <a:latin typeface="Calibri"/>
              </a:defRPr>
            </a:pPr>
            <a:r>
              <a:t>Joins + GROUP BY + AVG (no CASE)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8046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Question: Which countries had the highest average goals per match?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Tables: Match_tbl → League → Country · INNER JOIN, GROUP BY, AVG (no CASE)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46120"/>
            <a:ext cx="8138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5E20"/>
                </a:solidFill>
                <a:latin typeface="Calibri"/>
              </a:defRPr>
            </a:pPr>
            <a:r>
              <a:t>SQL (copy into DBeaver on soccer_proj):</a:t>
            </a:r>
          </a:p>
          <a:p>
            <a:pPr>
              <a:spcBef>
                <a:spcPts val="400"/>
              </a:spcBef>
              <a:defRPr sz="900">
                <a:solidFill>
                  <a:srgbClr val="212121"/>
                </a:solidFill>
                <a:latin typeface="Consolas"/>
              </a:defRPr>
            </a:pPr>
            <a:r>
              <a:t>SELECT c.name AS country,</a:t>
            </a:r>
            <a:br/>
            <a:r>
              <a:t>  AVG((m.home_team_goal + m.away_team_goal)::numeric) AS avg_goals_per_match</a:t>
            </a:r>
            <a:br/>
            <a:r>
              <a:t>FROM soccer_proj."Match_tbl" m</a:t>
            </a:r>
            <a:br/>
            <a:r>
              <a:t>JOIN soccer_proj."League" l ON l.id = m.league_id</a:t>
            </a:r>
            <a:br/>
            <a:r>
              <a:t>JOIN soccer_proj."Country" c ON c.id = l.country_id</a:t>
            </a:r>
            <a:br/>
            <a:r>
              <a:t>GROUP BY c.name</a:t>
            </a:r>
            <a:br/>
            <a:r>
              <a:t>ORDER BY avg_goals_per_match DESC;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  <a:latin typeface="Calibri"/>
              </a:defRPr>
            </a:pPr>
            <a:r>
              <a:t>DEMO Q16 — Query results</a:t>
            </a:r>
          </a:p>
          <a:p>
            <a:pPr>
              <a:defRPr sz="1600">
                <a:solidFill>
                  <a:srgbClr val="555555"/>
                </a:solidFill>
                <a:latin typeface="Calibri"/>
              </a:defRPr>
            </a:pPr>
            <a:r>
              <a:t>DBeaver · demo1 · Netherlands leads avg goals per match</a:t>
            </a:r>
          </a:p>
        </p:txBody>
      </p:sp>
      <p:pic>
        <p:nvPicPr>
          <p:cNvPr id="3" name="Picture 2" descr="demo_q16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8503920" cy="44263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  <a:latin typeface="Calibri"/>
              </a:defRPr>
            </a:pPr>
            <a:r>
              <a:t>DEMO: Advanced query (Q18)</a:t>
            </a:r>
          </a:p>
          <a:p>
            <a:pPr>
              <a:defRPr sz="1600">
                <a:solidFill>
                  <a:srgbClr val="555555"/>
                </a:solidFill>
                <a:latin typeface="Calibri"/>
              </a:defRPr>
            </a:pPr>
            <a:r>
              <a:t>Join with OR + conditional aggregates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8046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Question: Which teams most frequently kept clean sheets?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Tables: Team + Match_tbl · JOIN with OR · two CASE inside SUM · GROUP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46120"/>
            <a:ext cx="8138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5E20"/>
                </a:solidFill>
                <a:latin typeface="Calibri"/>
              </a:defRPr>
            </a:pPr>
            <a:r>
              <a:t>SQL (copy into DBeaver on soccer_proj):</a:t>
            </a:r>
          </a:p>
          <a:p>
            <a:pPr>
              <a:spcBef>
                <a:spcPts val="400"/>
              </a:spcBef>
              <a:defRPr sz="800">
                <a:solidFill>
                  <a:srgbClr val="212121"/>
                </a:solidFill>
                <a:latin typeface="Consolas"/>
              </a:defRPr>
            </a:pPr>
            <a:r>
              <a:t>SELECT t.team_long_name,</a:t>
            </a:r>
            <a:br/>
            <a:r>
              <a:t>  SUM(CASE WHEN m.home_team_api_id = t.team_api_id AND m.away_team_goal = 0 THEN 1 ELSE 0 END</a:t>
            </a:r>
            <a:br/>
            <a:r>
              <a:t>     + CASE WHEN m.away_team_api_id = t.team_api_id AND m.home_team_goal = 0 THEN 1 ELSE 0 END) AS clean_sheets</a:t>
            </a:r>
            <a:br/>
            <a:r>
              <a:t>FROM soccer_proj."Team" t</a:t>
            </a:r>
            <a:br/>
            <a:r>
              <a:t>JOIN soccer_proj."Match_tbl" m</a:t>
            </a:r>
            <a:br/>
            <a:r>
              <a:t>  ON m.home_team_api_id = t.team_api_id OR m.away_team_api_id = t.team_api_id</a:t>
            </a:r>
            <a:br/>
            <a:r>
              <a:t>GROUP BY t.team_long_name</a:t>
            </a:r>
            <a:br/>
            <a:r>
              <a:t>ORDER BY clean_sheets DESC</a:t>
            </a:r>
            <a:br/>
            <a:r>
              <a:t>LIMIT 30;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  <a:latin typeface="Calibri"/>
              </a:defRPr>
            </a:pPr>
            <a:r>
              <a:t>DEMO Q18 — Query results</a:t>
            </a:r>
          </a:p>
          <a:p>
            <a:pPr>
              <a:defRPr sz="1600">
                <a:solidFill>
                  <a:srgbClr val="555555"/>
                </a:solidFill>
                <a:latin typeface="Calibri"/>
              </a:defRPr>
            </a:pPr>
            <a:r>
              <a:t>DBeaver · demo2 · Celtic leads clean sheets</a:t>
            </a:r>
          </a:p>
        </p:txBody>
      </p:sp>
      <p:pic>
        <p:nvPicPr>
          <p:cNvPr id="3" name="Picture 2" descr="demo_q18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8503920" cy="455092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  <a:latin typeface="Calibri"/>
              </a:defRPr>
            </a:pPr>
            <a:r>
              <a:t>Business applications</a:t>
            </a:r>
          </a:p>
          <a:p>
            <a:pPr>
              <a:defRPr sz="1600">
                <a:solidFill>
                  <a:srgbClr val="555555"/>
                </a:solidFill>
                <a:latin typeface="Calibri"/>
              </a:defRPr>
            </a:pPr>
            <a:r>
              <a:t>Why this project matters outside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Club / league operations: season KPIs (goals, clean sheets, home vs away) for coaching and scouting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Media &amp; broadcasting: compare markets (e.g. avg goals by country) for scheduling and storytelling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Betting &amp; risk (data in Match_tbl): historical odds vs outcomes; favorite win rates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Talent / HR analog: Player_Attributes over time ≈ employee skill ratings for hiring and development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Same database patterns as retail (product sales by region) or finance (metrics over time)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B5E20"/>
                </a:solidFill>
                <a:latin typeface="Calibri"/>
              </a:defRPr>
            </a:pPr>
            <a:r>
              <a:t>Questions?</a:t>
            </a:r>
          </a:p>
          <a:p>
            <a:pPr algn="ctr">
              <a:defRPr sz="1800">
                <a:solidFill>
                  <a:srgbClr val="555555"/>
                </a:solidFill>
                <a:latin typeface="Calibri"/>
              </a:defRPr>
            </a:pPr>
            <a:r>
              <a:t>Deliverable 4 write-up + video link in submission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